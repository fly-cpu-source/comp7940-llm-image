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62" r:id="rId4"/>
  </p:sldMasterIdLst>
  <p:notesMasterIdLst>
    <p:notesMasterId r:id="rId7"/>
  </p:notesMasterIdLst>
  <p:sldIdLst>
    <p:sldId id="262" r:id="rId5"/>
    <p:sldId id="263" r:id="rId6"/>
    <p:sldId id="257" r:id="rId8"/>
    <p:sldId id="258" r:id="rId9"/>
    <p:sldId id="265" r:id="rId10"/>
    <p:sldId id="264" r:id="rId11"/>
    <p:sldId id="266" r:id="rId12"/>
    <p:sldId id="261" r:id="rId13"/>
    <p:sldId id="269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9" y="2130425"/>
            <a:ext cx="777442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0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0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0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0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0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8"/>
            <a:ext cx="205793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8"/>
            <a:ext cx="6021368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0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0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0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0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64.xml"/><Relationship Id="rId23" Type="http://schemas.openxmlformats.org/officeDocument/2006/relationships/tags" Target="../tags/tag63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6.xml"/><Relationship Id="rId1" Type="http://schemas.openxmlformats.org/officeDocument/2006/relationships/tags" Target="../tags/tag6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03383" y="1371600"/>
            <a:ext cx="4785360" cy="983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5800" b="1">
                <a:solidFill>
                  <a:srgbClr val="F5C518"/>
                </a:solidFill>
              </a:rPr>
              <a:t>AutoFigure Bot</a:t>
            </a:r>
            <a:endParaRPr sz="5800" b="1">
              <a:solidFill>
                <a:srgbClr val="F5C51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30258" y="2651760"/>
            <a:ext cx="653161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2200">
                <a:solidFill>
                  <a:srgbClr val="B8C5D0"/>
                </a:solidFill>
              </a:rPr>
              <a:t>AI-Powered Academic Diagram Generation on the Cloud</a:t>
            </a:r>
            <a:endParaRPr sz="2200">
              <a:solidFill>
                <a:srgbClr val="B8C5D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7588" y="3429000"/>
            <a:ext cx="7616952" cy="45720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" name="TextBox 4"/>
          <p:cNvSpPr txBox="1"/>
          <p:nvPr/>
        </p:nvSpPr>
        <p:spPr>
          <a:xfrm>
            <a:off x="3941508" y="3611880"/>
            <a:ext cx="430911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600" i="1">
                <a:solidFill>
                  <a:srgbClr val="B8C5D0"/>
                </a:solidFill>
              </a:rPr>
              <a:t>COMP7940 Cloud Computing  |  Group AE  |  2026</a:t>
            </a:r>
            <a:endParaRPr sz="1600" i="1">
              <a:solidFill>
                <a:srgbClr val="B8C5D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71065" y="4206240"/>
            <a:ext cx="142176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500" b="1">
                <a:solidFill>
                  <a:srgbClr val="FFFFFF"/>
                </a:solidFill>
              </a:rPr>
              <a:t>Feiyang Wu</a:t>
            </a:r>
            <a:endParaRPr sz="1500" b="1">
              <a:solidFill>
                <a:srgbClr val="FFFFFF"/>
              </a:solidFill>
            </a:endParaRPr>
          </a:p>
          <a:p>
            <a:pPr algn="ctr" defTabSz="457200"/>
            <a:r>
              <a:rPr sz="1200">
                <a:solidFill>
                  <a:srgbClr val="B8C5D0"/>
                </a:solidFill>
              </a:rPr>
              <a:t>Developer &amp; Testing</a:t>
            </a:r>
            <a:endParaRPr sz="1200">
              <a:solidFill>
                <a:srgbClr val="B8C5D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68265" y="4206240"/>
            <a:ext cx="182816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500" b="1">
                <a:solidFill>
                  <a:srgbClr val="FFFFFF"/>
                </a:solidFill>
              </a:rPr>
              <a:t>Liujun Peng</a:t>
            </a:r>
            <a:endParaRPr sz="1500" b="1">
              <a:solidFill>
                <a:srgbClr val="FFFFFF"/>
              </a:solidFill>
            </a:endParaRPr>
          </a:p>
          <a:p>
            <a:pPr algn="ctr" defTabSz="457200"/>
            <a:r>
              <a:rPr sz="1200">
                <a:solidFill>
                  <a:srgbClr val="B8C5D0"/>
                </a:solidFill>
              </a:rPr>
              <a:t>Prompt Engineer &amp; Testing</a:t>
            </a:r>
            <a:endParaRPr sz="1200">
              <a:solidFill>
                <a:srgbClr val="B8C5D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08988" y="4206240"/>
            <a:ext cx="174752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/>
            <a:r>
              <a:rPr sz="1500" b="1">
                <a:solidFill>
                  <a:srgbClr val="FFFFFF"/>
                </a:solidFill>
              </a:rPr>
              <a:t>Boyuan Zhang</a:t>
            </a:r>
            <a:endParaRPr sz="1500" b="1">
              <a:solidFill>
                <a:srgbClr val="FFFFFF"/>
              </a:solidFill>
            </a:endParaRPr>
          </a:p>
          <a:p>
            <a:pPr algn="ctr" defTabSz="457200"/>
            <a:r>
              <a:rPr sz="1200">
                <a:solidFill>
                  <a:srgbClr val="B8C5D0"/>
                </a:solidFill>
              </a:rPr>
              <a:t>Documentation &amp; Testing</a:t>
            </a:r>
            <a:endParaRPr sz="1200">
              <a:solidFill>
                <a:srgbClr val="B8C5D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3068" y="5166360"/>
            <a:ext cx="1783080" cy="347472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457200"/>
            <a:r>
              <a:rPr sz="1300" b="1">
                <a:solidFill>
                  <a:srgbClr val="FFFFFF"/>
                </a:solidFill>
              </a:rPr>
              <a:t>@HKBU_Fly_Bot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33308" y="5166360"/>
            <a:ext cx="1783080" cy="347472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457200"/>
            <a:r>
              <a:rPr sz="1300" b="1">
                <a:solidFill>
                  <a:srgbClr val="FFFFFF"/>
                </a:solidFill>
              </a:rPr>
              <a:t>Google Gemini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53548" y="5166360"/>
            <a:ext cx="1783080" cy="347472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457200"/>
            <a:r>
              <a:rPr sz="1300" b="1">
                <a:solidFill>
                  <a:srgbClr val="FFFFFF"/>
                </a:solidFill>
              </a:rPr>
              <a:t>AWS EC2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73788" y="5166360"/>
            <a:ext cx="1783080" cy="347472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457200"/>
            <a:r>
              <a:rPr sz="1300" b="1">
                <a:solidFill>
                  <a:srgbClr val="FFFFFF"/>
                </a:solidFill>
              </a:rPr>
              <a:t>Docker Compose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94028" y="5166360"/>
            <a:ext cx="1783080" cy="347472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457200"/>
            <a:r>
              <a:rPr sz="1300" b="1">
                <a:solidFill>
                  <a:srgbClr val="FFFFFF"/>
                </a:solidFill>
              </a:rPr>
              <a:t>DynamoDB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014268" y="5166360"/>
            <a:ext cx="1783080" cy="347472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457200"/>
            <a:r>
              <a:rPr sz="1300" b="1">
                <a:solidFill>
                  <a:srgbClr val="FFFFFF"/>
                </a:solidFill>
              </a:rPr>
              <a:t>CloudWatch</a:t>
            </a:r>
            <a:endParaRPr sz="1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2" name="文本框 31"/>
          <p:cNvSpPr txBox="1"/>
          <p:nvPr/>
        </p:nvSpPr>
        <p:spPr>
          <a:xfrm>
            <a:off x="407670" y="1804670"/>
            <a:ext cx="114338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just">
              <a:buFont typeface="Wingdings" panose="05000000000000000000" charset="0"/>
              <a:buChar char="l"/>
            </a:pPr>
            <a:r>
              <a:rPr lang="en-US" altLang="zh-CN" sz="3200">
                <a:solidFill>
                  <a:schemeClr val="bg1"/>
                </a:solidFill>
              </a:rPr>
              <a:t>AutoFigure Bot is a cloud-native Telegram chatbot that automatically </a:t>
            </a:r>
            <a:r>
              <a:rPr lang="en-US" altLang="zh-CN" sz="3200">
                <a:solidFill>
                  <a:schemeClr val="accent2"/>
                </a:solidFill>
              </a:rPr>
              <a:t>generates academic figures</a:t>
            </a:r>
            <a:r>
              <a:rPr lang="en-US" altLang="zh-CN" sz="3200">
                <a:solidFill>
                  <a:schemeClr val="bg1"/>
                </a:solidFill>
              </a:rPr>
              <a:t> from paper descriptions using a multimodal LLM-Gemini.</a:t>
            </a:r>
            <a:endParaRPr lang="en-US" altLang="zh-CN" sz="3200">
              <a:solidFill>
                <a:schemeClr val="bg1"/>
              </a:solidFill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zh-CN" sz="2800">
              <a:solidFill>
                <a:schemeClr val="bg1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solidFill>
                  <a:srgbClr val="FFFFFF"/>
                </a:solidFill>
                <a:sym typeface="+mn-ea"/>
              </a:rPr>
              <a:t>Mode 1 (Text-Only): paste paper </a:t>
            </a:r>
            <a:r>
              <a:rPr lang="en-US" sz="2400">
                <a:solidFill>
                  <a:srgbClr val="FFFFFF"/>
                </a:solidFill>
                <a:sym typeface="+mn-ea"/>
              </a:rPr>
              <a:t>text</a:t>
            </a:r>
            <a:r>
              <a:rPr sz="2400">
                <a:solidFill>
                  <a:srgbClr val="FFFFFF"/>
                </a:solidFill>
                <a:sym typeface="+mn-ea"/>
              </a:rPr>
              <a:t> → </a:t>
            </a:r>
            <a:r>
              <a:rPr lang="en-US" sz="2400">
                <a:solidFill>
                  <a:srgbClr val="FFFFFF"/>
                </a:solidFill>
                <a:sym typeface="+mn-ea"/>
              </a:rPr>
              <a:t>F</a:t>
            </a:r>
            <a:r>
              <a:rPr sz="2400">
                <a:solidFill>
                  <a:srgbClr val="FFFFFF"/>
                </a:solidFill>
                <a:sym typeface="+mn-ea"/>
              </a:rPr>
              <a:t>igure</a:t>
            </a:r>
            <a:r>
              <a:rPr lang="en-US" sz="2400">
                <a:solidFill>
                  <a:srgbClr val="FFFFFF"/>
                </a:solidFill>
                <a:sym typeface="+mn-ea"/>
              </a:rPr>
              <a:t> output</a:t>
            </a:r>
            <a:endParaRPr sz="2400">
              <a:solidFill>
                <a:srgbClr val="FFFFFF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solidFill>
                  <a:srgbClr val="FFFFFF"/>
                </a:solidFill>
                <a:sym typeface="+mn-ea"/>
              </a:rPr>
              <a:t>Mode 2 (Reference-Guided): upload reference image + text → </a:t>
            </a:r>
            <a:r>
              <a:rPr lang="en-US" sz="2400">
                <a:solidFill>
                  <a:srgbClr val="FFFFFF"/>
                </a:solidFill>
                <a:sym typeface="+mn-ea"/>
              </a:rPr>
              <a:t>S</a:t>
            </a:r>
            <a:r>
              <a:rPr sz="2400">
                <a:solidFill>
                  <a:srgbClr val="FFFFFF"/>
                </a:solidFill>
                <a:sym typeface="+mn-ea"/>
              </a:rPr>
              <a:t>tyle-matched figure</a:t>
            </a:r>
            <a:endParaRPr sz="2400">
              <a:solidFill>
                <a:srgbClr val="FFFFFF"/>
              </a:solidFill>
            </a:endParaRPr>
          </a:p>
          <a:p>
            <a:pPr algn="just"/>
            <a:endParaRPr lang="en-US" altLang="zh-CN" sz="2800">
              <a:solidFill>
                <a:schemeClr val="bg1"/>
              </a:solidFill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zh-CN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1844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320040" y="5063490"/>
            <a:ext cx="11521440" cy="16383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</a:rPr>
              <a:t>EC2 + Docker Compose (Bot &amp; Redis)</a:t>
            </a:r>
            <a:endParaRPr lang="en-US" altLang="zh-CN" sz="2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</a:rPr>
              <a:t>Bot handles logic, Redis manages rate limiting</a:t>
            </a:r>
            <a:endParaRPr lang="en-US" altLang="zh-CN" sz="2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</a:rPr>
              <a:t>S3 stores images, DynamoDB logs requests, CloudWatch monitors system</a:t>
            </a:r>
            <a:endParaRPr lang="en-US" altLang="zh-CN" sz="2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bg1"/>
                </a:solidFill>
              </a:rPr>
              <a:t>CI/CD: push </a:t>
            </a:r>
            <a:r>
              <a:rPr lang="en-US" altLang="en-US" sz="2400">
                <a:solidFill>
                  <a:schemeClr val="bg1"/>
                </a:solidFill>
              </a:rPr>
              <a:t>→</a:t>
            </a:r>
            <a:r>
              <a:rPr lang="en-US" altLang="zh-CN" sz="2400">
                <a:solidFill>
                  <a:schemeClr val="bg1"/>
                </a:solidFill>
              </a:rPr>
              <a:t> auto deploy </a:t>
            </a:r>
            <a:r>
              <a:rPr lang="en-US" altLang="en-US" sz="2400">
                <a:solidFill>
                  <a:schemeClr val="bg1"/>
                </a:solidFill>
              </a:rPr>
              <a:t>→</a:t>
            </a:r>
            <a:r>
              <a:rPr lang="en-US" altLang="zh-CN" sz="2400">
                <a:solidFill>
                  <a:schemeClr val="bg1"/>
                </a:solidFill>
              </a:rPr>
              <a:t> rebuild </a:t>
            </a:r>
            <a:r>
              <a:rPr lang="en-US" altLang="en-US" sz="2400">
                <a:solidFill>
                  <a:schemeClr val="bg1"/>
                </a:solidFill>
              </a:rPr>
              <a:t>→</a:t>
            </a:r>
            <a:r>
              <a:rPr lang="en-US" altLang="zh-CN" sz="2400">
                <a:solidFill>
                  <a:schemeClr val="bg1"/>
                </a:solidFill>
              </a:rPr>
              <a:t> restart</a:t>
            </a:r>
            <a:endParaRPr lang="en-US" altLang="zh-CN" sz="2400">
              <a:solidFill>
                <a:schemeClr val="bg1"/>
              </a:solidFill>
            </a:endParaRPr>
          </a:p>
        </p:txBody>
      </p:sp>
      <p:pic>
        <p:nvPicPr>
          <p:cNvPr id="479823308" name="图片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085" y="1386205"/>
            <a:ext cx="11546205" cy="348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526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7 Must-Have Technologies</a:t>
            </a:r>
            <a:endParaRPr lang="en-US" sz="3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274320" y="1528445"/>
            <a:ext cx="11640312" cy="603504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20040" y="1619885"/>
            <a:ext cx="1920240" cy="402336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320040" y="1619885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Bot</a:t>
            </a:r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2377440" y="1601597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/start    /help   /generate   /history   /cancel</a:t>
            </a:r>
            <a:endParaRPr lang="en-US" sz="135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274320" y="2186813"/>
            <a:ext cx="11640312" cy="603504"/>
          </a:xfrm>
          <a:prstGeom prst="rect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320040" y="2278253"/>
            <a:ext cx="1920240" cy="402336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320040" y="2278253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Database</a:t>
            </a:r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2377440" y="2259965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DynamoDB  ·  table: autofigure_requests  ·  fields: user_id, timestamp, job_id, s3_url, status, has_reference, method_text</a:t>
            </a:r>
            <a:endParaRPr lang="en-US" sz="135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274320" y="2845181"/>
            <a:ext cx="11640312" cy="603504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320040" y="2936621"/>
            <a:ext cx="1920240" cy="402336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320040" y="2936621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Deployment</a:t>
            </a:r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2377440" y="2918333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EC2 t2.micro  ·  us-east-2c  ·  24/7 running  ·  Public IP: 52.14.124.82</a:t>
            </a:r>
            <a:endParaRPr lang="en-US" sz="135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274320" y="3503549"/>
            <a:ext cx="11640312" cy="603504"/>
          </a:xfrm>
          <a:prstGeom prst="rect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320040" y="3594989"/>
            <a:ext cx="1920240" cy="402336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320040" y="3594989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API</a:t>
            </a:r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2377440" y="3576701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  ·  gemini-2.5-flash-image / gemini-3-pro-image-preview</a:t>
            </a:r>
            <a:endParaRPr lang="en-US" sz="135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274320" y="4161917"/>
            <a:ext cx="11640312" cy="603504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320040" y="4253357"/>
            <a:ext cx="1920240" cy="402336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320040" y="4253357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Version Control</a:t>
            </a:r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2377440" y="4235069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</a:t>
            </a:r>
            <a:r>
              <a:rPr lang="en-US" altLang="zh-CN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https://github.com/Fly-cpu-source/COMP7940-LLM-Image</a:t>
            </a: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35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274320" y="4820285"/>
            <a:ext cx="11640312" cy="603504"/>
          </a:xfrm>
          <a:prstGeom prst="rect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320040" y="4911725"/>
            <a:ext cx="1920240" cy="402336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320040" y="4911725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 Tech</a:t>
            </a:r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2377440" y="4893437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 ·  </a:t>
            </a:r>
            <a:r>
              <a:rPr lang="en-US" altLang="zh-CN" sz="1350" dirty="0">
                <a:solidFill>
                  <a:schemeClr val="bg1"/>
                </a:solidFill>
              </a:rPr>
              <a:t>Bot container + Redis container</a:t>
            </a:r>
            <a:endParaRPr lang="en-US" altLang="zh-CN" sz="135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>
            <p:custDataLst>
              <p:tags r:id="rId25"/>
            </p:custDataLst>
          </p:nvPr>
        </p:nvSpPr>
        <p:spPr>
          <a:xfrm>
            <a:off x="274320" y="5478653"/>
            <a:ext cx="11640312" cy="603504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26"/>
            </p:custDataLst>
          </p:nvPr>
        </p:nvSpPr>
        <p:spPr>
          <a:xfrm>
            <a:off x="320040" y="5570093"/>
            <a:ext cx="1920240" cy="402336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27"/>
            </p:custDataLst>
          </p:nvPr>
        </p:nvSpPr>
        <p:spPr>
          <a:xfrm>
            <a:off x="320040" y="5570093"/>
            <a:ext cx="1920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&amp; Cost</a:t>
            </a:r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Text 29"/>
          <p:cNvSpPr/>
          <p:nvPr>
            <p:custDataLst>
              <p:tags r:id="rId28"/>
            </p:custDataLst>
          </p:nvPr>
        </p:nvSpPr>
        <p:spPr>
          <a:xfrm>
            <a:off x="2377440" y="5551805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CloudWatch log group /autofigure/bot  ·  watchtower  ·  AWS Budgets $10/mo alert  ·  Total: HK$19.30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Nice-to-Have Features Implemented</a:t>
            </a:r>
            <a:endParaRPr lang="en-US" sz="3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274320" y="1280160"/>
            <a:ext cx="5650992" cy="25146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  <p:txBody>
          <a:bodyPr/>
          <a:p>
            <a:endParaRPr lang="en-US" altLang="zh-CN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274320" y="1280160"/>
            <a:ext cx="5650992" cy="438912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384048" y="128016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Pipeline (GitHub Actions)</a:t>
            </a:r>
            <a:endParaRPr lang="en-US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096000" y="1280160"/>
            <a:ext cx="5818505" cy="25146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6094095" y="1280160"/>
            <a:ext cx="5819775" cy="438785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6201918" y="128016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Multi-Container Orchestration</a:t>
            </a:r>
            <a:endParaRPr lang="en-US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74320" y="3977640"/>
            <a:ext cx="5650992" cy="25146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274320" y="3977640"/>
            <a:ext cx="5650992" cy="438912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384048" y="397764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Rate Limiting (Security)</a:t>
            </a:r>
            <a:endParaRPr lang="en-US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6096635" y="3977640"/>
            <a:ext cx="5817870" cy="251460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6094095" y="3977640"/>
            <a:ext cx="5814060" cy="438785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6201918" y="397764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S3 Persistent Storage</a:t>
            </a:r>
            <a:endParaRPr lang="en-US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8620" y="2143125"/>
            <a:ext cx="53905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000">
                <a:solidFill>
                  <a:schemeClr val="bg1"/>
                </a:solidFill>
              </a:rPr>
              <a:t>This pipeline automates deployment by triggering on every code push, enabling fast and consistent updates without manual intervention.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73495" y="2143125"/>
            <a:ext cx="53714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000">
                <a:solidFill>
                  <a:schemeClr val="bg1"/>
                </a:solidFill>
              </a:rPr>
              <a:t>The system uses Docker Compose to manage multiple containers, ensuring modular design, service isolation, and efficient resource utilization.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8620" y="4789805"/>
            <a:ext cx="54082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000">
                <a:solidFill>
                  <a:schemeClr val="bg1"/>
                </a:solidFill>
              </a:rPr>
              <a:t>Redis is used to enforce request limits per user, enhancing system security and preventing abuse while maintaining stable performance.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94095" y="4860925"/>
            <a:ext cx="5774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buClrTx/>
              <a:buSzTx/>
              <a:buFontTx/>
            </a:pPr>
            <a:r>
              <a:rPr lang="en-US" altLang="zh-CN" sz="2000">
                <a:solidFill>
                  <a:schemeClr val="bg1"/>
                </a:solidFill>
              </a:rPr>
              <a:t>Generated images are stored in AWS S3 with structured paths and indexed in DynamoDB, ensuring persistent and scalable data management.</a:t>
            </a:r>
            <a:endParaRPr lang="en-US" altLang="zh-CN" sz="2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88" y="0"/>
            <a:ext cx="12188952" cy="1143000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" name="TextBox 2"/>
          <p:cNvSpPr txBox="1"/>
          <p:nvPr/>
        </p:nvSpPr>
        <p:spPr>
          <a:xfrm>
            <a:off x="241618" y="274955"/>
            <a:ext cx="6032500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3400" b="1">
                <a:solidFill>
                  <a:srgbClr val="FFFFFF"/>
                </a:solidFill>
              </a:rPr>
              <a:t>Cost Control &amp; Cloud Monitoring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6258" y="2107565"/>
            <a:ext cx="9385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2000" b="1">
                <a:solidFill>
                  <a:srgbClr val="F5C518"/>
                </a:solidFill>
              </a:rPr>
              <a:t>Service</a:t>
            </a:r>
            <a:endParaRPr sz="2000" b="1">
              <a:solidFill>
                <a:srgbClr val="F5C51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78058" y="2107565"/>
            <a:ext cx="82042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2000" b="1">
                <a:solidFill>
                  <a:srgbClr val="F5C518"/>
                </a:solidFill>
              </a:rPr>
              <a:t>Usage</a:t>
            </a:r>
            <a:endParaRPr sz="2000" b="1">
              <a:solidFill>
                <a:srgbClr val="F5C51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49858" y="2107565"/>
            <a:ext cx="64071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2000" b="1">
                <a:solidFill>
                  <a:srgbClr val="F5C518"/>
                </a:solidFill>
              </a:rPr>
              <a:t>Cost</a:t>
            </a:r>
            <a:endParaRPr sz="2000" b="1">
              <a:solidFill>
                <a:srgbClr val="F5C51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06258" y="2592197"/>
            <a:ext cx="8229600" cy="438912"/>
          </a:xfrm>
          <a:prstGeom prst="rect">
            <a:avLst/>
          </a:prstGeom>
          <a:solidFill>
            <a:srgbClr val="13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879410" y="2647061"/>
            <a:ext cx="16560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AWS EC2 t2.micro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51210" y="2647061"/>
            <a:ext cx="146939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24/7 · us-east-2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23010" y="2647061"/>
            <a:ext cx="15868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27AE60"/>
                </a:solidFill>
              </a:rPr>
              <a:t>Free Tier  ($0.00)</a:t>
            </a:r>
            <a:endParaRPr sz="1600">
              <a:solidFill>
                <a:srgbClr val="27AE6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06258" y="3085973"/>
            <a:ext cx="8229600" cy="438912"/>
          </a:xfrm>
          <a:prstGeom prst="rect">
            <a:avLst/>
          </a:prstGeom>
          <a:solidFill>
            <a:srgbClr val="17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879410" y="3140837"/>
            <a:ext cx="153733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AWS DynamoDB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51210" y="3140837"/>
            <a:ext cx="19583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Request logs · &lt;25 GB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23010" y="3140837"/>
            <a:ext cx="15868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27AE60"/>
                </a:solidFill>
              </a:rPr>
              <a:t>Free Tier  ($0.00)</a:t>
            </a:r>
            <a:endParaRPr sz="1600">
              <a:solidFill>
                <a:srgbClr val="27AE6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806258" y="3579749"/>
            <a:ext cx="8229600" cy="438912"/>
          </a:xfrm>
          <a:prstGeom prst="rect">
            <a:avLst/>
          </a:prstGeom>
          <a:solidFill>
            <a:srgbClr val="13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879410" y="3634613"/>
            <a:ext cx="80708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AWS S3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51210" y="3634613"/>
            <a:ext cx="183261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PNG storage · &lt;5 GB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23010" y="3634613"/>
            <a:ext cx="15868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27AE60"/>
                </a:solidFill>
              </a:rPr>
              <a:t>Free Tier  ($0.00)</a:t>
            </a:r>
            <a:endParaRPr sz="1600">
              <a:solidFill>
                <a:srgbClr val="27AE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06258" y="4073525"/>
            <a:ext cx="8229600" cy="438912"/>
          </a:xfrm>
          <a:prstGeom prst="rect">
            <a:avLst/>
          </a:prstGeom>
          <a:solidFill>
            <a:srgbClr val="17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879410" y="4128389"/>
            <a:ext cx="202692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AWS CloudWatch Logs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51210" y="4128389"/>
            <a:ext cx="181038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Logs · &lt;5 GB/month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23010" y="4128389"/>
            <a:ext cx="15868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27AE60"/>
                </a:solidFill>
              </a:rPr>
              <a:t>Free Tier  ($0.00)</a:t>
            </a:r>
            <a:endParaRPr sz="1600">
              <a:solidFill>
                <a:srgbClr val="27AE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06258" y="4567301"/>
            <a:ext cx="8229600" cy="438912"/>
          </a:xfrm>
          <a:prstGeom prst="rect">
            <a:avLst/>
          </a:prstGeom>
          <a:solidFill>
            <a:srgbClr val="13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1879410" y="4622165"/>
            <a:ext cx="172529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Google Gemini API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51210" y="4622165"/>
            <a:ext cx="133667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FFFFF"/>
                </a:solidFill>
              </a:rPr>
              <a:t>Pay-as-you-go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23010" y="4622165"/>
            <a:ext cx="9804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>
                <a:solidFill>
                  <a:srgbClr val="F5C518"/>
                </a:solidFill>
              </a:rPr>
              <a:t>HK$19.30</a:t>
            </a:r>
            <a:endParaRPr sz="1600">
              <a:solidFill>
                <a:srgbClr val="F5C518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806258" y="5097653"/>
            <a:ext cx="8229600" cy="438912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1897698" y="5152517"/>
            <a:ext cx="180721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 b="1">
                <a:solidFill>
                  <a:srgbClr val="FFFFFF"/>
                </a:solidFill>
              </a:rPr>
              <a:t>Total Project Spend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46938" y="5152517"/>
            <a:ext cx="9906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1600" b="1">
                <a:solidFill>
                  <a:srgbClr val="F5C518"/>
                </a:solidFill>
              </a:rPr>
              <a:t>HK$19.30</a:t>
            </a:r>
            <a:endParaRPr sz="1600" b="1">
              <a:solidFill>
                <a:srgbClr val="F5C51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88" y="0"/>
            <a:ext cx="12188952" cy="1143000"/>
          </a:xfrm>
          <a:prstGeom prst="rect">
            <a:avLst/>
          </a:prstGeom>
          <a:solidFill>
            <a:srgbClr val="1A6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" name="TextBox 2"/>
          <p:cNvSpPr txBox="1"/>
          <p:nvPr/>
        </p:nvSpPr>
        <p:spPr>
          <a:xfrm>
            <a:off x="241618" y="274955"/>
            <a:ext cx="220408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defTabSz="457200"/>
            <a:r>
              <a:rPr sz="3400" b="1">
                <a:solidFill>
                  <a:srgbClr val="FFFFFF"/>
                </a:solidFill>
              </a:rPr>
              <a:t>Monitoring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1143000"/>
            <a:ext cx="6297295" cy="1675765"/>
          </a:xfrm>
          <a:prstGeom prst="rect">
            <a:avLst/>
          </a:prstGeom>
          <a:solidFill>
            <a:srgbClr val="13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 defTabSz="457200">
              <a:lnSpc>
                <a:spcPct val="150000"/>
              </a:lnSpc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• CloudWatch group: /autofigure/bot</a:t>
            </a:r>
            <a:endParaRPr sz="1400">
              <a:solidFill>
                <a:srgbClr val="FFFFFF"/>
              </a:solidFill>
            </a:endParaRPr>
          </a:p>
          <a:p>
            <a:pPr algn="l" defTabSz="457200">
              <a:lnSpc>
                <a:spcPct val="150000"/>
              </a:lnSpc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• </a:t>
            </a:r>
            <a:r>
              <a:rPr lang="en-US" altLang="zh-CN" sz="1400">
                <a:solidFill>
                  <a:srgbClr val="FFFFFF"/>
                </a:solidFill>
              </a:rPr>
              <a:t>Logs: generation results, S3 uploads, DynamoDB writes, rate-limit events, errors</a:t>
            </a:r>
            <a:endParaRPr lang="en-US" altLang="zh-CN" sz="1400">
              <a:solidFill>
                <a:srgbClr val="FFFFFF"/>
              </a:solidFill>
            </a:endParaRPr>
          </a:p>
          <a:p>
            <a:pPr algn="l" defTabSz="457200">
              <a:lnSpc>
                <a:spcPct val="150000"/>
              </a:lnSpc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• AWS Budgets: $10/mo alert → email notification</a:t>
            </a:r>
            <a:endParaRPr sz="1400">
              <a:solidFill>
                <a:srgbClr val="FFFFFF"/>
              </a:solidFill>
            </a:endParaRPr>
          </a:p>
          <a:p>
            <a:pPr algn="l" defTabSz="457200">
              <a:lnSpc>
                <a:spcPct val="150000"/>
              </a:lnSpc>
              <a:spcBef>
                <a:spcPts val="300"/>
              </a:spcBef>
            </a:pPr>
            <a:r>
              <a:rPr sz="1400">
                <a:solidFill>
                  <a:srgbClr val="FFFFFF"/>
                </a:solidFill>
              </a:rPr>
              <a:t>  • Gemini cap: HK$100/mo configured</a:t>
            </a:r>
            <a:endParaRPr sz="1400">
              <a:solidFill>
                <a:srgbClr val="FFFFFF"/>
              </a:solidFill>
            </a:endParaRPr>
          </a:p>
        </p:txBody>
      </p:sp>
      <p:pic>
        <p:nvPicPr>
          <p:cNvPr id="3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2818765"/>
            <a:ext cx="6094095" cy="406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85" y="1143000"/>
            <a:ext cx="6116320" cy="256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65" y="3704590"/>
            <a:ext cx="6137910" cy="315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274320" y="1325880"/>
            <a:ext cx="5650992" cy="150876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38912" y="1783080"/>
            <a:ext cx="566928" cy="566928"/>
          </a:xfrm>
          <a:prstGeom prst="ellipse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38912" y="17830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143000" y="1581912"/>
            <a:ext cx="4663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Telegram  →  search @HKBU_Fly_bot  →  send /start</a:t>
            </a:r>
            <a:endParaRPr lang="en-US" sz="15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6263640" y="1325880"/>
            <a:ext cx="5650992" cy="150876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6428232" y="1783080"/>
            <a:ext cx="566928" cy="566928"/>
          </a:xfrm>
          <a:prstGeom prst="ellipse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6428232" y="17830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7132320" y="1581912"/>
            <a:ext cx="4663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/generate  →  bot shows InlineKeyboard: Mode 1 or Mode 2</a:t>
            </a:r>
            <a:endParaRPr lang="en-US" sz="15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274320" y="3017520"/>
            <a:ext cx="5650992" cy="150876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38912" y="3474720"/>
            <a:ext cx="566928" cy="566928"/>
          </a:xfrm>
          <a:prstGeom prst="ellipse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38912" y="34747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143000" y="3273552"/>
            <a:ext cx="4663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 1: paste paper method text  →  Gemini generates  → PNG returned in ≤30 s</a:t>
            </a:r>
            <a:endParaRPr lang="en-US" sz="15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6263640" y="3017520"/>
            <a:ext cx="5650992" cy="150876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6428232" y="3474720"/>
            <a:ext cx="566928" cy="566928"/>
          </a:xfrm>
          <a:prstGeom prst="ellipse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6428232" y="34747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7132320" y="3273552"/>
            <a:ext cx="4663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 2: send reference diagram  →  paste method text  →  style-matched PNG</a:t>
            </a:r>
            <a:endParaRPr lang="en-US" sz="150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274320" y="4709160"/>
            <a:ext cx="5650992" cy="150876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438912" y="5166360"/>
            <a:ext cx="566928" cy="566928"/>
          </a:xfrm>
          <a:prstGeom prst="ellipse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438912" y="5166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1143000" y="4965192"/>
            <a:ext cx="4663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/history  →  bot fetches last 5 records from DynamoDB</a:t>
            </a:r>
            <a:endParaRPr lang="en-US" sz="15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6263640" y="4709160"/>
            <a:ext cx="5650992" cy="150876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6428232" y="5166360"/>
            <a:ext cx="566928" cy="566928"/>
          </a:xfrm>
          <a:prstGeom prst="ellipse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6428232" y="5166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132320" y="4965192"/>
            <a:ext cx="46634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limit test: send 4 /generate requests in 60 s  →  4th rejected with friendly message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5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 is live 24/7 at @HKBU_Fly_bot  ·  github.com/Fly-cpu-source/COMP7940-LLM-Image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"/>
          <p:cNvSpPr/>
          <p:nvPr>
            <p:custDataLst>
              <p:tags r:id="rId1"/>
            </p:custDataLst>
          </p:nvPr>
        </p:nvSpPr>
        <p:spPr>
          <a:xfrm>
            <a:off x="400050" y="1915160"/>
            <a:ext cx="5370830" cy="1782445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  <p:txBody>
          <a:bodyPr/>
          <a:p>
            <a:endParaRPr lang="en-US" altLang="zh-CN" sz="1600">
              <a:latin typeface="Calibri (正文)" charset="0"/>
              <a:cs typeface="Calibri (正文)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  <p:txBody>
          <a:bodyPr/>
          <a:p>
            <a:endParaRPr lang="en-US" altLang="zh-CN">
              <a:latin typeface="Calibri (正文)" charset="0"/>
              <a:cs typeface="Calibri (正文)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" y="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400" dirty="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Prompt Engineering and Model Fine-Tuning</a:t>
            </a:r>
            <a:endParaRPr lang="en-US" altLang="zh-CN" sz="3400" dirty="0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pic>
        <p:nvPicPr>
          <p:cNvPr id="30" name="图片 29"/>
          <p:cNvPicPr/>
          <p:nvPr/>
        </p:nvPicPr>
        <p:blipFill>
          <a:blip r:embed="rId2"/>
          <a:stretch>
            <a:fillRect/>
          </a:stretch>
        </p:blipFill>
        <p:spPr>
          <a:xfrm>
            <a:off x="500698" y="1528763"/>
            <a:ext cx="238125" cy="27622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39140" y="149923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Mode 1: Text-Only</a:t>
            </a:r>
            <a:endParaRPr lang="en-US" altLang="zh-CN" sz="2000" b="1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29895" y="1950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Vertical ArchitectureText Test</a:t>
            </a:r>
            <a:endParaRPr lang="en-US" altLang="zh-CN" b="1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80415" y="2318385"/>
            <a:ext cx="4864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Problem: </a:t>
            </a:r>
            <a:r>
              <a:rPr lang="en-US" altLang="zh-CN" sz="1600">
                <a:solidFill>
                  <a:srgbClr val="FF0000"/>
                </a:solidFill>
                <a:latin typeface="Calibri (正文)" charset="0"/>
                <a:cs typeface="Calibri (正文)" charset="0"/>
              </a:rPr>
              <a:t>Severe spelling hallucinations </a:t>
            </a:r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occur under high-density text</a:t>
            </a:r>
            <a:endParaRPr lang="en-US" altLang="zh-CN" sz="1600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79780" y="2994025"/>
            <a:ext cx="5191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Optimization: Introduce </a:t>
            </a:r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  <a:sym typeface="+mn-ea"/>
              </a:rPr>
              <a:t>prompt with </a:t>
            </a:r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error-proofing instruction to achieve </a:t>
            </a:r>
            <a:r>
              <a:rPr lang="en-US" altLang="zh-CN" sz="1600">
                <a:solidFill>
                  <a:srgbClr val="00B050"/>
                </a:solidFill>
                <a:latin typeface="Calibri (正文)" charset="0"/>
                <a:cs typeface="Calibri (正文)" charset="0"/>
              </a:rPr>
              <a:t>zero typos</a:t>
            </a:r>
            <a:endParaRPr lang="en-US" altLang="zh-CN" sz="1600">
              <a:solidFill>
                <a:srgbClr val="00B050"/>
              </a:solidFill>
              <a:latin typeface="Calibri (正文)" charset="0"/>
              <a:cs typeface="Calibri (正文)" charset="0"/>
            </a:endParaRPr>
          </a:p>
        </p:txBody>
      </p:sp>
      <p:pic>
        <p:nvPicPr>
          <p:cNvPr id="36" name="图片 35"/>
          <p:cNvPicPr/>
          <p:nvPr/>
        </p:nvPicPr>
        <p:blipFill>
          <a:blip r:embed="rId3"/>
          <a:stretch>
            <a:fillRect/>
          </a:stretch>
        </p:blipFill>
        <p:spPr>
          <a:xfrm>
            <a:off x="541655" y="2373630"/>
            <a:ext cx="238760" cy="309880"/>
          </a:xfrm>
          <a:prstGeom prst="rect">
            <a:avLst/>
          </a:prstGeom>
        </p:spPr>
      </p:pic>
      <p:pic>
        <p:nvPicPr>
          <p:cNvPr id="37" name="图片 36"/>
          <p:cNvPicPr/>
          <p:nvPr/>
        </p:nvPicPr>
        <p:blipFill>
          <a:blip r:embed="rId4"/>
          <a:stretch>
            <a:fillRect/>
          </a:stretch>
        </p:blipFill>
        <p:spPr>
          <a:xfrm>
            <a:off x="560705" y="3068955"/>
            <a:ext cx="219075" cy="233680"/>
          </a:xfrm>
          <a:prstGeom prst="rect">
            <a:avLst/>
          </a:prstGeom>
        </p:spPr>
      </p:pic>
      <p:sp>
        <p:nvSpPr>
          <p:cNvPr id="38" name="Shape 2"/>
          <p:cNvSpPr/>
          <p:nvPr>
            <p:custDataLst>
              <p:tags r:id="rId5"/>
            </p:custDataLst>
          </p:nvPr>
        </p:nvSpPr>
        <p:spPr>
          <a:xfrm>
            <a:off x="400050" y="4225925"/>
            <a:ext cx="5370830" cy="182753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  <p:txBody>
          <a:bodyPr/>
          <a:p>
            <a:endParaRPr lang="en-US" altLang="zh-CN" sz="1600">
              <a:latin typeface="Calibri (正文)" charset="0"/>
              <a:cs typeface="Calibri (正文)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50215" y="4246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Horizontal Flow Text Test</a:t>
            </a:r>
            <a:endParaRPr lang="en-US" altLang="zh-CN" b="1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41045" y="4651375"/>
            <a:ext cx="4864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Problem: Topological stacking causes extremely </a:t>
            </a:r>
            <a:r>
              <a:rPr lang="en-US" altLang="zh-CN" sz="1600">
                <a:solidFill>
                  <a:srgbClr val="FF0000"/>
                </a:solidFill>
                <a:latin typeface="Calibri (正文)" charset="0"/>
                <a:cs typeface="Calibri (正文)" charset="0"/>
              </a:rPr>
              <a:t>crowded and cramped layout</a:t>
            </a:r>
            <a:endParaRPr lang="en-US" altLang="zh-CN" sz="1600">
              <a:solidFill>
                <a:srgbClr val="FF0000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28980" y="5302250"/>
            <a:ext cx="48190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Optimization: Add whitespace constraints to ensure </a:t>
            </a:r>
            <a:r>
              <a:rPr lang="en-US" altLang="zh-CN" sz="1600">
                <a:solidFill>
                  <a:srgbClr val="00B050"/>
                </a:solidFill>
                <a:latin typeface="Calibri (正文)" charset="0"/>
                <a:cs typeface="Calibri (正文)" charset="0"/>
              </a:rPr>
              <a:t> proper layout</a:t>
            </a:r>
            <a:endParaRPr lang="en-US" altLang="zh-CN" sz="1600">
              <a:solidFill>
                <a:srgbClr val="00B050"/>
              </a:solidFill>
              <a:latin typeface="Calibri (正文)" charset="0"/>
              <a:cs typeface="Calibri (正文)" charset="0"/>
            </a:endParaRPr>
          </a:p>
        </p:txBody>
      </p:sp>
      <p:pic>
        <p:nvPicPr>
          <p:cNvPr id="44" name="图片 43"/>
          <p:cNvPicPr/>
          <p:nvPr/>
        </p:nvPicPr>
        <p:blipFill>
          <a:blip r:embed="rId3"/>
          <a:stretch>
            <a:fillRect/>
          </a:stretch>
        </p:blipFill>
        <p:spPr>
          <a:xfrm>
            <a:off x="512445" y="4712335"/>
            <a:ext cx="238760" cy="309880"/>
          </a:xfrm>
          <a:prstGeom prst="rect">
            <a:avLst/>
          </a:prstGeom>
        </p:spPr>
      </p:pic>
      <p:pic>
        <p:nvPicPr>
          <p:cNvPr id="45" name="图片 44"/>
          <p:cNvPicPr/>
          <p:nvPr/>
        </p:nvPicPr>
        <p:blipFill>
          <a:blip r:embed="rId4"/>
          <a:stretch>
            <a:fillRect/>
          </a:stretch>
        </p:blipFill>
        <p:spPr>
          <a:xfrm>
            <a:off x="509905" y="5387340"/>
            <a:ext cx="219075" cy="233680"/>
          </a:xfrm>
          <a:prstGeom prst="rect">
            <a:avLst/>
          </a:prstGeom>
        </p:spPr>
      </p:pic>
      <p:sp>
        <p:nvSpPr>
          <p:cNvPr id="46" name="Shape 2"/>
          <p:cNvSpPr/>
          <p:nvPr>
            <p:custDataLst>
              <p:tags r:id="rId6"/>
            </p:custDataLst>
          </p:nvPr>
        </p:nvSpPr>
        <p:spPr>
          <a:xfrm>
            <a:off x="6134100" y="1929130"/>
            <a:ext cx="5370830" cy="173101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  <p:txBody>
          <a:bodyPr/>
          <a:p>
            <a:endParaRPr lang="en-US" altLang="zh-CN" sz="1600">
              <a:latin typeface="Calibri (正文)" charset="0"/>
              <a:cs typeface="Calibri (正文)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473190" y="1499235"/>
            <a:ext cx="496443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Mode 2: Reference Diagram Guided</a:t>
            </a:r>
            <a:endParaRPr lang="en-US" altLang="zh-CN" sz="2000" b="1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  <a:p>
            <a:endParaRPr lang="en-US" altLang="zh-CN" sz="2000" b="1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134100" y="1924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Basic Topology Reference Map Test</a:t>
            </a:r>
            <a:endParaRPr lang="en-US" altLang="zh-CN" b="1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524625" y="2287905"/>
            <a:ext cx="4864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Problem: Overfitting the reference diagram, causing the </a:t>
            </a:r>
            <a:r>
              <a:rPr lang="en-US" altLang="zh-CN" sz="1600">
                <a:solidFill>
                  <a:srgbClr val="FF0000"/>
                </a:solidFill>
                <a:latin typeface="Calibri (正文)" charset="0"/>
                <a:cs typeface="Calibri (正文)" charset="0"/>
              </a:rPr>
              <a:t>lines to be messy and cross each other.</a:t>
            </a:r>
            <a:endParaRPr lang="en-US" altLang="zh-CN" sz="1600">
              <a:solidFill>
                <a:srgbClr val="FF0000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546215" y="2936875"/>
            <a:ext cx="49987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Optimization: Add style restrictions to</a:t>
            </a:r>
            <a:r>
              <a:rPr lang="en-US" altLang="zh-CN" sz="1600">
                <a:solidFill>
                  <a:srgbClr val="00B050"/>
                </a:solidFill>
                <a:latin typeface="Calibri (正文)" charset="0"/>
                <a:cs typeface="Calibri (正文)" charset="0"/>
              </a:rPr>
              <a:t> ensure the style is correct and avoid excessive imitation</a:t>
            </a:r>
            <a:endParaRPr lang="en-US" altLang="zh-CN" sz="1600">
              <a:solidFill>
                <a:srgbClr val="00B050"/>
              </a:solidFill>
              <a:latin typeface="Calibri (正文)" charset="0"/>
              <a:cs typeface="Calibri (正文)" charset="0"/>
            </a:endParaRPr>
          </a:p>
        </p:txBody>
      </p:sp>
      <p:pic>
        <p:nvPicPr>
          <p:cNvPr id="52" name="图片 51"/>
          <p:cNvPicPr/>
          <p:nvPr/>
        </p:nvPicPr>
        <p:blipFill>
          <a:blip r:embed="rId3"/>
          <a:stretch>
            <a:fillRect/>
          </a:stretch>
        </p:blipFill>
        <p:spPr>
          <a:xfrm>
            <a:off x="6256655" y="2363470"/>
            <a:ext cx="238760" cy="309880"/>
          </a:xfrm>
          <a:prstGeom prst="rect">
            <a:avLst/>
          </a:prstGeom>
        </p:spPr>
      </p:pic>
      <p:pic>
        <p:nvPicPr>
          <p:cNvPr id="53" name="图片 52"/>
          <p:cNvPicPr/>
          <p:nvPr/>
        </p:nvPicPr>
        <p:blipFill>
          <a:blip r:embed="rId4"/>
          <a:stretch>
            <a:fillRect/>
          </a:stretch>
        </p:blipFill>
        <p:spPr>
          <a:xfrm>
            <a:off x="6294755" y="3018155"/>
            <a:ext cx="219075" cy="233680"/>
          </a:xfrm>
          <a:prstGeom prst="rect">
            <a:avLst/>
          </a:prstGeom>
        </p:spPr>
      </p:pic>
      <p:sp>
        <p:nvSpPr>
          <p:cNvPr id="54" name="Shape 2"/>
          <p:cNvSpPr/>
          <p:nvPr>
            <p:custDataLst>
              <p:tags r:id="rId7"/>
            </p:custDataLst>
          </p:nvPr>
        </p:nvSpPr>
        <p:spPr>
          <a:xfrm>
            <a:off x="6107430" y="4184015"/>
            <a:ext cx="5370830" cy="1896110"/>
          </a:xfrm>
          <a:prstGeom prst="rect">
            <a:avLst/>
          </a:prstGeom>
          <a:solidFill>
            <a:srgbClr val="132743"/>
          </a:solidFill>
          <a:ln w="12700">
            <a:solidFill>
              <a:srgbClr val="132743"/>
            </a:solidFill>
            <a:prstDash val="solid"/>
          </a:ln>
        </p:spPr>
        <p:txBody>
          <a:bodyPr/>
          <a:p>
            <a:endParaRPr lang="en-US" altLang="zh-CN" sz="1600">
              <a:latin typeface="Calibri (正文)" charset="0"/>
              <a:cs typeface="Calibri (正文)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134100" y="4204970"/>
            <a:ext cx="5241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Complex Architecture Reference Diagram Test</a:t>
            </a:r>
            <a:endParaRPr lang="en-US" altLang="zh-CN" b="1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452870" y="4594225"/>
            <a:ext cx="4864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Problem:</a:t>
            </a:r>
            <a:r>
              <a:rPr lang="en-US" altLang="zh-CN" sz="1600">
                <a:solidFill>
                  <a:srgbClr val="FF0000"/>
                </a:solidFill>
                <a:latin typeface="Calibri (正文)" charset="0"/>
                <a:cs typeface="Calibri (正文)" charset="0"/>
              </a:rPr>
              <a:t> Internal structure is chaotic</a:t>
            </a:r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, with external captions and overflow appearing</a:t>
            </a:r>
            <a:endParaRPr lang="en-US" altLang="zh-CN" sz="1600">
              <a:solidFill>
                <a:schemeClr val="bg1"/>
              </a:solidFill>
              <a:latin typeface="Calibri (正文)" charset="0"/>
              <a:cs typeface="Calibri (正文)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466840" y="5239385"/>
            <a:ext cx="49987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/>
                </a:solidFill>
                <a:latin typeface="Calibri (正文)" charset="0"/>
                <a:cs typeface="Calibri (正文)" charset="0"/>
              </a:rPr>
              <a:t>Optimization: Introduce prompt with centered text, prohibiting overflow and summarization to achieve </a:t>
            </a:r>
            <a:r>
              <a:rPr lang="en-US" altLang="zh-CN" sz="1600">
                <a:solidFill>
                  <a:srgbClr val="00B050"/>
                </a:solidFill>
                <a:latin typeface="Calibri (正文)" charset="0"/>
                <a:cs typeface="Calibri (正文)" charset="0"/>
              </a:rPr>
              <a:t>hierarchical internal structure</a:t>
            </a:r>
            <a:endParaRPr lang="en-US" altLang="zh-CN" sz="1600">
              <a:solidFill>
                <a:srgbClr val="00B050"/>
              </a:solidFill>
              <a:latin typeface="Calibri (正文)" charset="0"/>
              <a:cs typeface="Calibri (正文)" charset="0"/>
            </a:endParaRPr>
          </a:p>
        </p:txBody>
      </p:sp>
      <p:pic>
        <p:nvPicPr>
          <p:cNvPr id="60" name="图片 59"/>
          <p:cNvPicPr/>
          <p:nvPr/>
        </p:nvPicPr>
        <p:blipFill>
          <a:blip r:embed="rId3"/>
          <a:stretch>
            <a:fillRect/>
          </a:stretch>
        </p:blipFill>
        <p:spPr>
          <a:xfrm>
            <a:off x="6250305" y="4649470"/>
            <a:ext cx="238760" cy="309880"/>
          </a:xfrm>
          <a:prstGeom prst="rect">
            <a:avLst/>
          </a:prstGeom>
        </p:spPr>
      </p:pic>
      <p:pic>
        <p:nvPicPr>
          <p:cNvPr id="61" name="图片 60"/>
          <p:cNvPicPr/>
          <p:nvPr/>
        </p:nvPicPr>
        <p:blipFill>
          <a:blip r:embed="rId4"/>
          <a:stretch>
            <a:fillRect/>
          </a:stretch>
        </p:blipFill>
        <p:spPr>
          <a:xfrm>
            <a:off x="6247765" y="5385435"/>
            <a:ext cx="219075" cy="233680"/>
          </a:xfrm>
          <a:prstGeom prst="rect">
            <a:avLst/>
          </a:prstGeom>
        </p:spPr>
      </p:pic>
      <p:pic>
        <p:nvPicPr>
          <p:cNvPr id="62" name="图片 61"/>
          <p:cNvPicPr/>
          <p:nvPr/>
        </p:nvPicPr>
        <p:blipFill>
          <a:blip r:embed="rId8"/>
          <a:stretch>
            <a:fillRect/>
          </a:stretch>
        </p:blipFill>
        <p:spPr>
          <a:xfrm>
            <a:off x="6227445" y="1559243"/>
            <a:ext cx="266700" cy="276225"/>
          </a:xfrm>
          <a:prstGeom prst="rect">
            <a:avLst/>
          </a:prstGeom>
        </p:spPr>
      </p:pic>
      <p:sp>
        <p:nvSpPr>
          <p:cNvPr id="63" name="文本框 62"/>
          <p:cNvSpPr txBox="1"/>
          <p:nvPr/>
        </p:nvSpPr>
        <p:spPr>
          <a:xfrm>
            <a:off x="0" y="623570"/>
            <a:ext cx="9539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>
                    <a:lumMod val="85000"/>
                  </a:schemeClr>
                </a:solidFill>
              </a:rPr>
              <a:t>13 Rounds of Extreme Testing: From Text Generation to Publication-Grade Charts</a:t>
            </a:r>
            <a:endParaRPr lang="en-US" altLang="zh-CN" sz="160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(Mode 1)</a:t>
            </a:r>
            <a:endParaRPr lang="en-US" sz="3400" dirty="0"/>
          </a:p>
        </p:txBody>
      </p:sp>
      <p:pic>
        <p:nvPicPr>
          <p:cNvPr id="30" name="图片 16" descr="80e0771caf19a7c7f2917ca34d82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1382395"/>
            <a:ext cx="10186670" cy="5224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CC4"/>
          </a:solidFill>
          <a:ln w="12700">
            <a:solidFill>
              <a:srgbClr val="1A6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1521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(Mode 2)</a:t>
            </a:r>
            <a:endParaRPr lang="en-US" sz="3400" dirty="0"/>
          </a:p>
        </p:txBody>
      </p:sp>
      <p:pic>
        <p:nvPicPr>
          <p:cNvPr id="17" name="图片 17" descr="7ca75c2f6d7859f324fdf8ad2b551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25" y="1216660"/>
            <a:ext cx="10009505" cy="54368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3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4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5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6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7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8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9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0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1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2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3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4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5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6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7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8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19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0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1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2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3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4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5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6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7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8.xml><?xml version="1.0" encoding="utf-8"?>
<p:tagLst xmlns:p="http://schemas.openxmlformats.org/presentationml/2006/main">
  <p:tag name="KSO_WM_DIAGRAM_VIRTUALLY_FRAME" val="{&quot;height&quot;:381.25999999999993,&quot;left&quot;:21.6,&quot;top&quot;:97.65,&quot;width&quot;:916.5600000000001}"/>
</p:tagLst>
</file>

<file path=ppt/tags/tag29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0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1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2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3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4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5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6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7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8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39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40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41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2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3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4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5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6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7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8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49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0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1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2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3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4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5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6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7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8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59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60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61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62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63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64.xml><?xml version="1.0" encoding="utf-8"?>
<p:tagLst xmlns:p="http://schemas.openxmlformats.org/presentationml/2006/main">
  <p:tag name="KSO_WM_DIAGRAM_VIRTUALLY_FRAME" val="{&quot;height&quot;:385.2,&quot;left&quot;:21.6,&quot;top&quot;:104.4,&quot;width&quot;:916.5600000000001}"/>
</p:tagLst>
</file>

<file path=ppt/tags/tag65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66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67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ags/tag68.xml><?xml version="1.0" encoding="utf-8"?>
<p:tagLst xmlns:p="http://schemas.openxmlformats.org/presentationml/2006/main">
  <p:tag name="KSO_WM_DIAGRAM_VIRTUALLY_FRAME" val="{&quot;height&quot;:422.75,&quot;left&quot;:21.6,&quot;top&quot;:100.8,&quot;width&quot;:916.5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4198</Words>
  <Application>WPS 演示</Application>
  <PresentationFormat>On-screen Show (16:9)</PresentationFormat>
  <Paragraphs>205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Calibri</vt:lpstr>
      <vt:lpstr>Calibri</vt:lpstr>
      <vt:lpstr>Calibri</vt:lpstr>
      <vt:lpstr>Wingdings</vt:lpstr>
      <vt:lpstr>微软雅黑</vt:lpstr>
      <vt:lpstr>Arial Unicode MS</vt:lpstr>
      <vt:lpstr>等线</vt:lpstr>
      <vt:lpstr>Calibri (正文)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彭柳竣</cp:lastModifiedBy>
  <cp:revision>5</cp:revision>
  <dcterms:created xsi:type="dcterms:W3CDTF">2026-04-13T07:08:00Z</dcterms:created>
  <dcterms:modified xsi:type="dcterms:W3CDTF">2026-04-13T16:42:40Z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B71784F7A82247ECB9B068903F975149_12</vt:lpwstr>
  </property>
</Properties>
</file>